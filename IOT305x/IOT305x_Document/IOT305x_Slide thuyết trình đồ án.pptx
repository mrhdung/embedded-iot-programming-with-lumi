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7" r:id="rId4"/>
    <p:sldId id="258" r:id="rId5"/>
    <p:sldId id="264" r:id="rId6"/>
    <p:sldId id="265" r:id="rId7"/>
    <p:sldId id="259" r:id="rId8"/>
    <p:sldId id="266" r:id="rId9"/>
    <p:sldId id="268" r:id="rId10"/>
    <p:sldId id="260" r:id="rId11"/>
    <p:sldId id="262" r:id="rId12"/>
    <p:sldId id="261" r:id="rId13"/>
    <p:sldId id="26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2"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2025-03-29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2025-03-29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2025-03-29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2025-03-29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2025-03-29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2025-03-29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2025-03-29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2025-03-29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2025-03-29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2025-03-29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2025-03-29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8000"/>
            <a:lum/>
          </a:blip>
          <a:srcRect/>
          <a:stretch>
            <a:fillRect t="-23000" b="-2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2025-03-29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4320" b="1">
                <a:solidFill>
                  <a:srgbClr val="FF4500"/>
                </a:solidFill>
              </a:defRPr>
            </a:pPr>
            <a:r>
              <a:rPr lang="en-US" sz="4320">
                <a:latin typeface="Segoe UI" panose="020B0502040204020203" pitchFamily="34" charset="0"/>
                <a:cs typeface="Segoe UI" panose="020B0502040204020203" pitchFamily="34" charset="0"/>
              </a:rPr>
              <a:t>BÁO CÁO CUỐI KHÓA</a:t>
            </a:r>
            <a:endParaRPr sz="4320">
              <a:latin typeface="Segoe UI" panose="020B0502040204020203" pitchFamily="34" charset="0"/>
              <a:cs typeface="Segoe UI" panose="020B0502040204020203" pitchFamily="34" charset="0"/>
            </a:endParaRPr>
          </a:p>
        </p:txBody>
      </p:sp>
      <p:sp>
        <p:nvSpPr>
          <p:cNvPr id="3" name="Content Placeholder 2"/>
          <p:cNvSpPr>
            <a:spLocks noGrp="1"/>
          </p:cNvSpPr>
          <p:nvPr>
            <p:ph idx="1"/>
          </p:nvPr>
        </p:nvSpPr>
        <p:spPr/>
        <p:txBody>
          <a:bodyPr>
            <a:normAutofit/>
          </a:bodyPr>
          <a:lstStyle/>
          <a:p>
            <a:pPr marL="274320" indent="-274320" algn="just">
              <a:defRPr sz="2880">
                <a:solidFill>
                  <a:srgbClr val="323232"/>
                </a:solidFill>
              </a:defRPr>
            </a:pPr>
            <a:r>
              <a:rPr lang="en-US" sz="2680" err="1">
                <a:latin typeface="Segoe UI" panose="020B0502040204020203" pitchFamily="34" charset="0"/>
                <a:cs typeface="Segoe UI" panose="020B0502040204020203" pitchFamily="34" charset="0"/>
              </a:rPr>
              <a:t>Đ</a:t>
            </a:r>
            <a:r>
              <a:rPr sz="2680" err="1">
                <a:latin typeface="Segoe UI" panose="020B0502040204020203" pitchFamily="34" charset="0"/>
                <a:cs typeface="Segoe UI" panose="020B0502040204020203" pitchFamily="34" charset="0"/>
              </a:rPr>
              <a:t>ề</a:t>
            </a:r>
            <a:r>
              <a:rPr sz="2680">
                <a:latin typeface="Segoe UI" panose="020B0502040204020203" pitchFamily="34" charset="0"/>
                <a:cs typeface="Segoe UI" panose="020B0502040204020203" pitchFamily="34" charset="0"/>
              </a:rPr>
              <a:t> tài</a:t>
            </a:r>
            <a:r>
              <a:rPr lang="en-US" sz="2680">
                <a:latin typeface="Segoe UI" panose="020B0502040204020203" pitchFamily="34" charset="0"/>
                <a:cs typeface="Segoe UI" panose="020B0502040204020203" pitchFamily="34" charset="0"/>
              </a:rPr>
              <a:t>: </a:t>
            </a:r>
            <a:r>
              <a:rPr lang="en-US" sz="2680" err="1">
                <a:latin typeface="Segoe UI" panose="020B0502040204020203" pitchFamily="34" charset="0"/>
                <a:cs typeface="Segoe UI" panose="020B0502040204020203" pitchFamily="34" charset="0"/>
              </a:rPr>
              <a:t>Xây</a:t>
            </a:r>
            <a:r>
              <a:rPr lang="en-US" sz="2680">
                <a:latin typeface="Segoe UI" panose="020B0502040204020203" pitchFamily="34" charset="0"/>
                <a:cs typeface="Segoe UI" panose="020B0502040204020203" pitchFamily="34" charset="0"/>
              </a:rPr>
              <a:t> </a:t>
            </a:r>
            <a:r>
              <a:rPr lang="en-US" sz="2680" err="1">
                <a:latin typeface="Segoe UI" panose="020B0502040204020203" pitchFamily="34" charset="0"/>
                <a:cs typeface="Segoe UI" panose="020B0502040204020203" pitchFamily="34" charset="0"/>
              </a:rPr>
              <a:t>dựng</a:t>
            </a:r>
            <a:r>
              <a:rPr lang="en-US" sz="2680">
                <a:latin typeface="Segoe UI" panose="020B0502040204020203" pitchFamily="34" charset="0"/>
                <a:cs typeface="Segoe UI" panose="020B0502040204020203" pitchFamily="34" charset="0"/>
              </a:rPr>
              <a:t> hệ thống IoT – Hệ thống </a:t>
            </a:r>
            <a:r>
              <a:rPr lang="en-US" sz="2680" err="1">
                <a:latin typeface="Segoe UI" panose="020B0502040204020203" pitchFamily="34" charset="0"/>
                <a:cs typeface="Segoe UI" panose="020B0502040204020203" pitchFamily="34" charset="0"/>
              </a:rPr>
              <a:t>cảm</a:t>
            </a:r>
            <a:r>
              <a:rPr lang="en-US" sz="2680">
                <a:latin typeface="Segoe UI" panose="020B0502040204020203" pitchFamily="34" charset="0"/>
                <a:cs typeface="Segoe UI" panose="020B0502040204020203" pitchFamily="34" charset="0"/>
              </a:rPr>
              <a:t> biến </a:t>
            </a:r>
            <a:r>
              <a:rPr lang="en-US" sz="2680" err="1">
                <a:latin typeface="Segoe UI" panose="020B0502040204020203" pitchFamily="34" charset="0"/>
                <a:cs typeface="Segoe UI" panose="020B0502040204020203" pitchFamily="34" charset="0"/>
              </a:rPr>
              <a:t>hiện</a:t>
            </a:r>
            <a:r>
              <a:rPr lang="en-US" sz="2680">
                <a:latin typeface="Segoe UI" panose="020B0502040204020203" pitchFamily="34" charset="0"/>
                <a:cs typeface="Segoe UI" panose="020B0502040204020203" pitchFamily="34" charset="0"/>
              </a:rPr>
              <a:t> diện </a:t>
            </a:r>
            <a:r>
              <a:rPr lang="en-US" sz="2680" err="1">
                <a:latin typeface="Segoe UI" panose="020B0502040204020203" pitchFamily="34" charset="0"/>
                <a:cs typeface="Segoe UI" panose="020B0502040204020203" pitchFamily="34" charset="0"/>
              </a:rPr>
              <a:t>cho</a:t>
            </a:r>
            <a:r>
              <a:rPr lang="en-US" sz="2680">
                <a:latin typeface="Segoe UI" panose="020B0502040204020203" pitchFamily="34" charset="0"/>
                <a:cs typeface="Segoe UI" panose="020B0502040204020203" pitchFamily="34" charset="0"/>
              </a:rPr>
              <a:t> nhà thông </a:t>
            </a:r>
            <a:r>
              <a:rPr lang="en-US" sz="2680" err="1">
                <a:latin typeface="Segoe UI" panose="020B0502040204020203" pitchFamily="34" charset="0"/>
                <a:cs typeface="Segoe UI" panose="020B0502040204020203" pitchFamily="34" charset="0"/>
              </a:rPr>
              <a:t>minh</a:t>
            </a:r>
            <a:endParaRPr sz="2680">
              <a:latin typeface="Segoe UI" panose="020B0502040204020203" pitchFamily="34" charset="0"/>
              <a:cs typeface="Segoe UI" panose="020B0502040204020203" pitchFamily="34" charset="0"/>
            </a:endParaRPr>
          </a:p>
          <a:p>
            <a:pPr marL="274320" indent="-274320" algn="just">
              <a:defRPr sz="2880">
                <a:solidFill>
                  <a:srgbClr val="323232"/>
                </a:solidFill>
              </a:defRPr>
            </a:pPr>
            <a:r>
              <a:rPr sz="2680" err="1">
                <a:latin typeface="Segoe UI" panose="020B0502040204020203" pitchFamily="34" charset="0"/>
                <a:cs typeface="Segoe UI" panose="020B0502040204020203" pitchFamily="34" charset="0"/>
              </a:rPr>
              <a:t>Họ</a:t>
            </a:r>
            <a:r>
              <a:rPr sz="2680">
                <a:latin typeface="Segoe UI" panose="020B0502040204020203" pitchFamily="34" charset="0"/>
                <a:cs typeface="Segoe UI" panose="020B0502040204020203" pitchFamily="34" charset="0"/>
              </a:rPr>
              <a:t> và </a:t>
            </a:r>
            <a:r>
              <a:rPr sz="2680" err="1">
                <a:latin typeface="Segoe UI" panose="020B0502040204020203" pitchFamily="34" charset="0"/>
                <a:cs typeface="Segoe UI" panose="020B0502040204020203" pitchFamily="34" charset="0"/>
              </a:rPr>
              <a:t>tên</a:t>
            </a:r>
            <a:r>
              <a:rPr lang="en-US" sz="2680">
                <a:latin typeface="Segoe UI" panose="020B0502040204020203" pitchFamily="34" charset="0"/>
                <a:cs typeface="Segoe UI" panose="020B0502040204020203" pitchFamily="34" charset="0"/>
              </a:rPr>
              <a:t>: Nguyễn Hoàng Dũng</a:t>
            </a:r>
            <a:endParaRPr sz="2680">
              <a:latin typeface="Segoe UI" panose="020B0502040204020203" pitchFamily="34" charset="0"/>
              <a:cs typeface="Segoe UI" panose="020B0502040204020203" pitchFamily="34" charset="0"/>
            </a:endParaRPr>
          </a:p>
          <a:p>
            <a:pPr marL="274320" indent="-274320" algn="just">
              <a:defRPr sz="2880">
                <a:solidFill>
                  <a:srgbClr val="323232"/>
                </a:solidFill>
              </a:defRPr>
            </a:pPr>
            <a:r>
              <a:rPr sz="2680">
                <a:latin typeface="Segoe UI" panose="020B0502040204020203" pitchFamily="34" charset="0"/>
                <a:cs typeface="Segoe UI" panose="020B0502040204020203" pitchFamily="34" charset="0"/>
              </a:rPr>
              <a:t>Mã </a:t>
            </a:r>
            <a:r>
              <a:rPr sz="2680" err="1">
                <a:latin typeface="Segoe UI" panose="020B0502040204020203" pitchFamily="34" charset="0"/>
                <a:cs typeface="Segoe UI" panose="020B0502040204020203" pitchFamily="34" charset="0"/>
              </a:rPr>
              <a:t>số</a:t>
            </a:r>
            <a:r>
              <a:rPr sz="2680">
                <a:latin typeface="Segoe UI" panose="020B0502040204020203" pitchFamily="34" charset="0"/>
                <a:cs typeface="Segoe UI" panose="020B0502040204020203" pitchFamily="34" charset="0"/>
              </a:rPr>
              <a:t> </a:t>
            </a:r>
            <a:r>
              <a:rPr lang="en-US" sz="2680">
                <a:latin typeface="Segoe UI" panose="020B0502040204020203" pitchFamily="34" charset="0"/>
                <a:cs typeface="Segoe UI" panose="020B0502040204020203" pitchFamily="34" charset="0"/>
              </a:rPr>
              <a:t>học </a:t>
            </a:r>
            <a:r>
              <a:rPr lang="en-US" sz="2680" err="1">
                <a:latin typeface="Segoe UI" panose="020B0502040204020203" pitchFamily="34" charset="0"/>
                <a:cs typeface="Segoe UI" panose="020B0502040204020203" pitchFamily="34" charset="0"/>
              </a:rPr>
              <a:t>viên</a:t>
            </a:r>
            <a:r>
              <a:rPr lang="en-US" sz="2680">
                <a:latin typeface="Segoe UI" panose="020B0502040204020203" pitchFamily="34" charset="0"/>
                <a:cs typeface="Segoe UI" panose="020B0502040204020203" pitchFamily="34" charset="0"/>
              </a:rPr>
              <a:t>: FX19603</a:t>
            </a:r>
            <a:endParaRPr sz="2680">
              <a:latin typeface="Segoe UI" panose="020B0502040204020203" pitchFamily="34" charset="0"/>
              <a:cs typeface="Segoe UI" panose="020B0502040204020203" pitchFamily="34" charset="0"/>
            </a:endParaRPr>
          </a:p>
          <a:p>
            <a:pPr marL="274320" indent="-274320" algn="just">
              <a:defRPr sz="2880">
                <a:solidFill>
                  <a:srgbClr val="323232"/>
                </a:solidFill>
              </a:defRPr>
            </a:pPr>
            <a:r>
              <a:rPr lang="en-US" sz="2680">
                <a:latin typeface="Segoe UI" panose="020B0502040204020203" pitchFamily="34" charset="0"/>
                <a:cs typeface="Segoe UI" panose="020B0502040204020203" pitchFamily="34" charset="0"/>
              </a:rPr>
              <a:t>Mentor</a:t>
            </a:r>
            <a:r>
              <a:rPr sz="2680">
                <a:latin typeface="Segoe UI" panose="020B0502040204020203" pitchFamily="34" charset="0"/>
                <a:cs typeface="Segoe UI" panose="020B0502040204020203" pitchFamily="34" charset="0"/>
              </a:rPr>
              <a:t> hướng dẫn</a:t>
            </a:r>
            <a:r>
              <a:rPr lang="en-US" sz="2680">
                <a:latin typeface="Segoe UI" panose="020B0502040204020203" pitchFamily="34" charset="0"/>
                <a:cs typeface="Segoe UI" panose="020B0502040204020203" pitchFamily="34" charset="0"/>
              </a:rPr>
              <a:t>: </a:t>
            </a:r>
            <a:r>
              <a:rPr lang="vi-VN" sz="2680">
                <a:latin typeface="Segoe UI" panose="020B0502040204020203" pitchFamily="34" charset="0"/>
                <a:cs typeface="Segoe UI" panose="020B0502040204020203" pitchFamily="34" charset="0"/>
              </a:rPr>
              <a:t>Nguyễn Phú Phượn</a:t>
            </a:r>
            <a:r>
              <a:rPr lang="en-US" sz="2680">
                <a:latin typeface="Segoe UI" panose="020B0502040204020203" pitchFamily="34" charset="0"/>
                <a:cs typeface="Segoe UI" panose="020B0502040204020203" pitchFamily="34" charset="0"/>
              </a:rPr>
              <a:t>g</a:t>
            </a:r>
            <a:endParaRPr sz="2680">
              <a:latin typeface="Segoe UI" panose="020B0502040204020203" pitchFamily="34" charset="0"/>
              <a:cs typeface="Segoe UI"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4320" b="1">
                <a:solidFill>
                  <a:srgbClr val="FF4500"/>
                </a:solidFill>
              </a:defRPr>
            </a:pPr>
            <a:r>
              <a:rPr sz="4320" err="1">
                <a:latin typeface="Segoe UI" panose="020B0502040204020203" pitchFamily="34" charset="0"/>
                <a:cs typeface="Segoe UI" panose="020B0502040204020203" pitchFamily="34" charset="0"/>
              </a:rPr>
              <a:t>Giới</a:t>
            </a:r>
            <a:r>
              <a:rPr sz="4320">
                <a:latin typeface="Segoe UI" panose="020B0502040204020203" pitchFamily="34" charset="0"/>
                <a:cs typeface="Segoe UI" panose="020B0502040204020203" pitchFamily="34" charset="0"/>
              </a:rPr>
              <a:t> </a:t>
            </a:r>
            <a:r>
              <a:rPr sz="4320" err="1">
                <a:latin typeface="Segoe UI" panose="020B0502040204020203" pitchFamily="34" charset="0"/>
                <a:cs typeface="Segoe UI" panose="020B0502040204020203" pitchFamily="34" charset="0"/>
              </a:rPr>
              <a:t>thiệu</a:t>
            </a:r>
            <a:r>
              <a:rPr sz="4320">
                <a:latin typeface="Segoe UI" panose="020B0502040204020203" pitchFamily="34" charset="0"/>
                <a:cs typeface="Segoe UI" panose="020B0502040204020203" pitchFamily="34" charset="0"/>
              </a:rPr>
              <a:t> </a:t>
            </a:r>
            <a:r>
              <a:rPr sz="4320" err="1">
                <a:latin typeface="Segoe UI" panose="020B0502040204020203" pitchFamily="34" charset="0"/>
                <a:cs typeface="Segoe UI" panose="020B0502040204020203" pitchFamily="34" charset="0"/>
              </a:rPr>
              <a:t>đề</a:t>
            </a:r>
            <a:r>
              <a:rPr sz="4320">
                <a:latin typeface="Segoe UI" panose="020B0502040204020203" pitchFamily="34" charset="0"/>
                <a:cs typeface="Segoe UI" panose="020B0502040204020203" pitchFamily="34" charset="0"/>
              </a:rPr>
              <a:t> tài</a:t>
            </a:r>
          </a:p>
        </p:txBody>
      </p:sp>
      <p:sp>
        <p:nvSpPr>
          <p:cNvPr id="3" name="Content Placeholder 2"/>
          <p:cNvSpPr>
            <a:spLocks noGrp="1"/>
          </p:cNvSpPr>
          <p:nvPr>
            <p:ph idx="1"/>
          </p:nvPr>
        </p:nvSpPr>
        <p:spPr>
          <a:xfrm>
            <a:off x="609600" y="1600201"/>
            <a:ext cx="10972800" cy="4983161"/>
          </a:xfrm>
        </p:spPr>
        <p:txBody>
          <a:bodyPr>
            <a:normAutofit/>
          </a:bodyPr>
          <a:lstStyle/>
          <a:p>
            <a:pPr algn="just">
              <a:buFont typeface="Wingdings" panose="05000000000000000000" pitchFamily="2" charset="2"/>
              <a:buChar char="Ø"/>
              <a:defRPr sz="2880">
                <a:solidFill>
                  <a:srgbClr val="323232"/>
                </a:solidFill>
              </a:defRPr>
            </a:pPr>
            <a:r>
              <a:rPr lang="en-US" sz="2680">
                <a:latin typeface="Segoe UI" panose="020B0502040204020203" pitchFamily="34" charset="0"/>
                <a:cs typeface="Segoe UI" panose="020B0502040204020203" pitchFamily="34" charset="0"/>
              </a:rPr>
              <a:t>Lý do chọn đề tài:</a:t>
            </a:r>
          </a:p>
          <a:p>
            <a:pPr marL="731520" indent="-274320" algn="just">
              <a:buFont typeface="Arial" panose="020B0604020202020204" pitchFamily="34" charset="0"/>
              <a:buChar char="•"/>
              <a:defRPr sz="2880">
                <a:solidFill>
                  <a:srgbClr val="323232"/>
                </a:solidFill>
              </a:defRPr>
            </a:pPr>
            <a:r>
              <a:rPr lang="en-US" sz="2680">
                <a:latin typeface="Segoe UI" panose="020B0502040204020203" pitchFamily="34" charset="0"/>
                <a:cs typeface="Segoe UI" panose="020B0502040204020203" pitchFamily="34" charset="0"/>
              </a:rPr>
              <a:t>Hiện nay, nhà thông minh đang trở thành xu hướng phổ biến. Trong đó, cảm biến hiện diện đóng vai trò rất quan trọng giúp </a:t>
            </a:r>
            <a:r>
              <a:rPr lang="vi-VN" sz="2680">
                <a:latin typeface="Segoe UI" panose="020B0502040204020203" pitchFamily="34" charset="0"/>
                <a:cs typeface="Segoe UI" panose="020B0502040204020203" pitchFamily="34" charset="0"/>
              </a:rPr>
              <a:t>điều khiển thiết bị trong nhà thông minh, giúp tối ưu hóa hiệu quả tiêu thụ năng lượng và mang lại sự tiện nghi trong không gian sống.</a:t>
            </a:r>
            <a:endParaRPr lang="en-US" sz="2680">
              <a:latin typeface="Segoe UI" panose="020B0502040204020203" pitchFamily="34" charset="0"/>
              <a:cs typeface="Segoe UI" panose="020B0502040204020203" pitchFamily="34" charset="0"/>
            </a:endParaRPr>
          </a:p>
          <a:p>
            <a:pPr marL="731520" indent="-274320" algn="just">
              <a:buFont typeface="Arial" panose="020B0604020202020204" pitchFamily="34" charset="0"/>
              <a:buChar char="•"/>
              <a:defRPr sz="2880">
                <a:solidFill>
                  <a:srgbClr val="323232"/>
                </a:solidFill>
              </a:defRPr>
            </a:pPr>
            <a:r>
              <a:rPr lang="en-US" sz="2680">
                <a:solidFill>
                  <a:srgbClr val="323232"/>
                </a:solidFill>
                <a:latin typeface="Segoe UI" panose="020B0502040204020203" pitchFamily="34" charset="0"/>
                <a:cs typeface="Segoe UI" panose="020B0502040204020203" pitchFamily="34" charset="0"/>
              </a:rPr>
              <a:t>Khắc phục một số hạn chế của cảm biến PIR (Không phát hiện được người đứng yên, không hoạt động tốt khi có vật cả, dễ bị nhiễu bởi các yếu tố môi trường…</a:t>
            </a:r>
          </a:p>
          <a:p>
            <a:pPr marL="347472" indent="-347472" algn="just">
              <a:buFont typeface="Wingdings" panose="05000000000000000000" pitchFamily="2" charset="2"/>
              <a:buChar char="Ø"/>
              <a:defRPr sz="2880">
                <a:solidFill>
                  <a:srgbClr val="323232"/>
                </a:solidFill>
              </a:defRPr>
            </a:pPr>
            <a:r>
              <a:rPr lang="en-US" sz="2680">
                <a:solidFill>
                  <a:srgbClr val="323232"/>
                </a:solidFill>
                <a:latin typeface="Segoe UI" panose="020B0502040204020203" pitchFamily="34" charset="0"/>
                <a:cs typeface="Segoe UI" panose="020B0502040204020203" pitchFamily="34" charset="0"/>
              </a:rPr>
              <a:t>Giải pháp: Sử dụng cảm biến radar LD2410B với mạng Zigbee.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DBCFC-B993-62A9-26A4-25C067B1B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7D930-7F61-4E7C-A521-7A54F4B05DB9}"/>
              </a:ext>
            </a:extLst>
          </p:cNvPr>
          <p:cNvSpPr>
            <a:spLocks noGrp="1"/>
          </p:cNvSpPr>
          <p:nvPr>
            <p:ph type="title"/>
          </p:nvPr>
        </p:nvSpPr>
        <p:spPr/>
        <p:txBody>
          <a:bodyPr>
            <a:normAutofit/>
          </a:bodyPr>
          <a:lstStyle/>
          <a:p>
            <a:pPr>
              <a:defRPr sz="4320" b="1">
                <a:solidFill>
                  <a:srgbClr val="FF4500"/>
                </a:solidFill>
              </a:defRPr>
            </a:pPr>
            <a:r>
              <a:rPr lang="en-US" sz="4320">
                <a:latin typeface="Segoe UI" panose="020B0502040204020203" pitchFamily="34" charset="0"/>
                <a:cs typeface="Segoe UI" panose="020B0502040204020203" pitchFamily="34" charset="0"/>
              </a:rPr>
              <a:t>Mục tiêu đề tài</a:t>
            </a:r>
            <a:endParaRPr sz="432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080360D6-BC46-E525-F351-A18952B00A19}"/>
              </a:ext>
            </a:extLst>
          </p:cNvPr>
          <p:cNvSpPr>
            <a:spLocks noGrp="1"/>
          </p:cNvSpPr>
          <p:nvPr>
            <p:ph idx="1"/>
          </p:nvPr>
        </p:nvSpPr>
        <p:spPr>
          <a:xfrm>
            <a:off x="609600" y="1600201"/>
            <a:ext cx="10972800" cy="4983161"/>
          </a:xfrm>
        </p:spPr>
        <p:txBody>
          <a:bodyPr>
            <a:normAutofit/>
          </a:bodyPr>
          <a:lstStyle/>
          <a:p>
            <a:pPr marL="274320" indent="-274320" algn="just">
              <a:buFont typeface="Arial" panose="020B0604020202020204" pitchFamily="34" charset="0"/>
              <a:buChar char="•"/>
              <a:defRPr sz="2880">
                <a:solidFill>
                  <a:srgbClr val="323232"/>
                </a:solidFill>
              </a:defRPr>
            </a:pPr>
            <a:r>
              <a:rPr lang="en-US" sz="2680">
                <a:latin typeface="Segoe UI" panose="020B0502040204020203" pitchFamily="34" charset="0"/>
                <a:cs typeface="Segoe UI" panose="020B0502040204020203" pitchFamily="34" charset="0"/>
              </a:rPr>
              <a:t>Xây dựng hệ thống cảm biến hiện diện IoT cho nhà thông minh.</a:t>
            </a:r>
          </a:p>
          <a:p>
            <a:pPr marL="274320" indent="-274320" algn="just">
              <a:buFont typeface="Arial" panose="020B0604020202020204" pitchFamily="34" charset="0"/>
              <a:buChar char="•"/>
              <a:defRPr sz="2880">
                <a:solidFill>
                  <a:srgbClr val="323232"/>
                </a:solidFill>
              </a:defRPr>
            </a:pPr>
            <a:r>
              <a:rPr lang="en-US" sz="2680">
                <a:latin typeface="Segoe UI" panose="020B0502040204020203" pitchFamily="34" charset="0"/>
                <a:cs typeface="Segoe UI" panose="020B0502040204020203" pitchFamily="34" charset="0"/>
              </a:rPr>
              <a:t>Tự động hóa điều khiển thiết bị điện dựa trên sự hiện diện.</a:t>
            </a:r>
          </a:p>
          <a:p>
            <a:pPr marL="274320" indent="-274320" algn="just">
              <a:buFont typeface="Arial" panose="020B0604020202020204" pitchFamily="34" charset="0"/>
              <a:buChar char="•"/>
              <a:defRPr sz="2880">
                <a:solidFill>
                  <a:srgbClr val="323232"/>
                </a:solidFill>
              </a:defRPr>
            </a:pPr>
            <a:r>
              <a:rPr lang="en-US" sz="2680">
                <a:latin typeface="Segoe UI" panose="020B0502040204020203" pitchFamily="34" charset="0"/>
                <a:cs typeface="Segoe UI" panose="020B0502040204020203" pitchFamily="34" charset="0"/>
              </a:rPr>
              <a:t>Ứng dụng công nghệ Zigbee để kết nối các thiết bị không dây.</a:t>
            </a:r>
          </a:p>
          <a:p>
            <a:pPr marL="274320" indent="-274320" algn="just">
              <a:buFont typeface="Arial" panose="020B0604020202020204" pitchFamily="34" charset="0"/>
              <a:buChar char="•"/>
              <a:defRPr sz="2880">
                <a:solidFill>
                  <a:srgbClr val="323232"/>
                </a:solidFill>
              </a:defRPr>
            </a:pPr>
            <a:r>
              <a:rPr lang="en-US" sz="2680">
                <a:latin typeface="Segoe UI" panose="020B0502040204020203" pitchFamily="34" charset="0"/>
                <a:cs typeface="Segoe UI" panose="020B0502040204020203" pitchFamily="34" charset="0"/>
              </a:rPr>
              <a:t>Tích hợp vi điều khiển STM32 (có các như: LCD, nút nhấn,..) để điều khiển và hiển thị thông tin.</a:t>
            </a:r>
          </a:p>
        </p:txBody>
      </p:sp>
    </p:spTree>
    <p:extLst>
      <p:ext uri="{BB962C8B-B14F-4D97-AF65-F5344CB8AC3E}">
        <p14:creationId xmlns:p14="http://schemas.microsoft.com/office/powerpoint/2010/main" val="954611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4320" b="1">
                <a:solidFill>
                  <a:srgbClr val="FF4500"/>
                </a:solidFill>
              </a:defRPr>
            </a:pPr>
            <a:r>
              <a:rPr lang="en-US" sz="4320">
                <a:latin typeface="Segoe UI" panose="020B0502040204020203" pitchFamily="34" charset="0"/>
                <a:cs typeface="Segoe UI" panose="020B0502040204020203" pitchFamily="34" charset="0"/>
              </a:rPr>
              <a:t>Các thiết bị sử dụng trong đề tài</a:t>
            </a:r>
            <a:endParaRPr sz="4320">
              <a:latin typeface="Segoe UI" panose="020B0502040204020203" pitchFamily="34" charset="0"/>
              <a:cs typeface="Segoe UI" panose="020B0502040204020203" pitchFamily="34" charset="0"/>
            </a:endParaRPr>
          </a:p>
        </p:txBody>
      </p:sp>
      <p:pic>
        <p:nvPicPr>
          <p:cNvPr id="10" name="Content Placeholder 9">
            <a:extLst>
              <a:ext uri="{FF2B5EF4-FFF2-40B4-BE49-F238E27FC236}">
                <a16:creationId xmlns:a16="http://schemas.microsoft.com/office/drawing/2014/main" id="{F00A3958-3A87-B131-E7EC-E8BB556754F3}"/>
              </a:ext>
            </a:extLst>
          </p:cNvPr>
          <p:cNvPicPr>
            <a:picLocks noGrp="1" noChangeAspect="1"/>
          </p:cNvPicPr>
          <p:nvPr>
            <p:ph idx="1"/>
          </p:nvPr>
        </p:nvPicPr>
        <p:blipFill>
          <a:blip r:embed="rId2"/>
          <a:stretch>
            <a:fillRect/>
          </a:stretch>
        </p:blipFill>
        <p:spPr>
          <a:xfrm>
            <a:off x="791784" y="1600518"/>
            <a:ext cx="4455465" cy="4525963"/>
          </a:xfrm>
        </p:spPr>
      </p:pic>
      <p:sp>
        <p:nvSpPr>
          <p:cNvPr id="12" name="TextBox 11">
            <a:extLst>
              <a:ext uri="{FF2B5EF4-FFF2-40B4-BE49-F238E27FC236}">
                <a16:creationId xmlns:a16="http://schemas.microsoft.com/office/drawing/2014/main" id="{513E7167-0FA6-3597-1B20-9E072F593431}"/>
              </a:ext>
            </a:extLst>
          </p:cNvPr>
          <p:cNvSpPr txBox="1"/>
          <p:nvPr/>
        </p:nvSpPr>
        <p:spPr>
          <a:xfrm>
            <a:off x="5247249" y="1584664"/>
            <a:ext cx="6335151" cy="917174"/>
          </a:xfrm>
          <a:prstGeom prst="rect">
            <a:avLst/>
          </a:prstGeom>
          <a:noFill/>
        </p:spPr>
        <p:txBody>
          <a:bodyPr wrap="square" rtlCol="0">
            <a:spAutoFit/>
          </a:bodyPr>
          <a:lstStyle/>
          <a:p>
            <a:pPr algn="just"/>
            <a:r>
              <a:rPr lang="en-US" sz="2680">
                <a:latin typeface="Segoe UI" panose="020B0502040204020203" pitchFamily="34" charset="0"/>
                <a:cs typeface="Segoe UI" panose="020B0502040204020203" pitchFamily="34" charset="0"/>
              </a:rPr>
              <a:t>Thiết bị STM32 với module LCD đóng vài trò làm giao diện điều khiển và hiển thị.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76418-C97D-5B20-D1EB-50C5B49B8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9B4C8-9A03-AACC-1271-1606F0323E35}"/>
              </a:ext>
            </a:extLst>
          </p:cNvPr>
          <p:cNvSpPr>
            <a:spLocks noGrp="1"/>
          </p:cNvSpPr>
          <p:nvPr>
            <p:ph type="title"/>
          </p:nvPr>
        </p:nvSpPr>
        <p:spPr/>
        <p:txBody>
          <a:bodyPr>
            <a:normAutofit/>
          </a:bodyPr>
          <a:lstStyle/>
          <a:p>
            <a:pPr>
              <a:defRPr sz="4320" b="1">
                <a:solidFill>
                  <a:srgbClr val="FF4500"/>
                </a:solidFill>
              </a:defRPr>
            </a:pPr>
            <a:r>
              <a:rPr lang="en-US" sz="4320">
                <a:latin typeface="Segoe UI" panose="020B0502040204020203" pitchFamily="34" charset="0"/>
                <a:cs typeface="Segoe UI" panose="020B0502040204020203" pitchFamily="34" charset="0"/>
              </a:rPr>
              <a:t>Các thiết bị sử dụng trong đề tài</a:t>
            </a:r>
            <a:endParaRPr sz="4320">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2A47D874-D643-3A2E-54C6-AB9EC51F5190}"/>
              </a:ext>
            </a:extLst>
          </p:cNvPr>
          <p:cNvSpPr txBox="1"/>
          <p:nvPr/>
        </p:nvSpPr>
        <p:spPr>
          <a:xfrm>
            <a:off x="4881489" y="1584664"/>
            <a:ext cx="6700911" cy="2979277"/>
          </a:xfrm>
          <a:prstGeom prst="rect">
            <a:avLst/>
          </a:prstGeom>
          <a:noFill/>
        </p:spPr>
        <p:txBody>
          <a:bodyPr wrap="square" rtlCol="0">
            <a:spAutoFit/>
          </a:bodyPr>
          <a:lstStyle/>
          <a:p>
            <a:pPr algn="just"/>
            <a:r>
              <a:rPr lang="en-US" sz="2680">
                <a:latin typeface="Segoe UI" panose="020B0502040204020203" pitchFamily="34" charset="0"/>
                <a:cs typeface="Segoe UI" panose="020B0502040204020203" pitchFamily="34" charset="0"/>
              </a:rPr>
              <a:t>03 thiết bị EFR32, trong đó: </a:t>
            </a:r>
          </a:p>
          <a:p>
            <a:pPr marL="548640" indent="-274320" algn="just">
              <a:buFont typeface="Arial" panose="020B0604020202020204" pitchFamily="34" charset="0"/>
              <a:buChar char="•"/>
            </a:pPr>
            <a:r>
              <a:rPr lang="en-US" sz="2680">
                <a:latin typeface="Segoe UI" panose="020B0502040204020203" pitchFamily="34" charset="0"/>
                <a:cs typeface="Segoe UI" panose="020B0502040204020203" pitchFamily="34" charset="0"/>
              </a:rPr>
              <a:t>01 thiết bị làm Coordinator đóng vai trò thiết lập mạng và quản lý các thiết bị trong mạng.</a:t>
            </a:r>
          </a:p>
          <a:p>
            <a:pPr marL="548640" indent="-274320" algn="just">
              <a:buFont typeface="Arial" panose="020B0604020202020204" pitchFamily="34" charset="0"/>
              <a:buChar char="•"/>
            </a:pPr>
            <a:r>
              <a:rPr lang="en-US" sz="2680">
                <a:latin typeface="Segoe UI" panose="020B0502040204020203" pitchFamily="34" charset="0"/>
                <a:cs typeface="Segoe UI" panose="020B0502040204020203" pitchFamily="34" charset="0"/>
              </a:rPr>
              <a:t>01 thiết bị mô phỏng hệ thống đèn.</a:t>
            </a:r>
          </a:p>
          <a:p>
            <a:pPr marL="548640" indent="-274320" algn="just">
              <a:buFont typeface="Arial" panose="020B0604020202020204" pitchFamily="34" charset="0"/>
              <a:buChar char="•"/>
            </a:pPr>
            <a:r>
              <a:rPr lang="en-US" sz="2680">
                <a:latin typeface="Segoe UI" panose="020B0502040204020203" pitchFamily="34" charset="0"/>
                <a:cs typeface="Segoe UI" panose="020B0502040204020203" pitchFamily="34" charset="0"/>
              </a:rPr>
              <a:t>01 thiết bị mô phỏng hệ thống cảm biến.</a:t>
            </a:r>
          </a:p>
        </p:txBody>
      </p:sp>
      <p:pic>
        <p:nvPicPr>
          <p:cNvPr id="18" name="Content Placeholder 17">
            <a:extLst>
              <a:ext uri="{FF2B5EF4-FFF2-40B4-BE49-F238E27FC236}">
                <a16:creationId xmlns:a16="http://schemas.microsoft.com/office/drawing/2014/main" id="{966E525E-1DD0-F35E-6510-010794717F22}"/>
              </a:ext>
            </a:extLst>
          </p:cNvPr>
          <p:cNvPicPr>
            <a:picLocks noGrp="1" noChangeAspect="1"/>
          </p:cNvPicPr>
          <p:nvPr>
            <p:ph idx="1"/>
          </p:nvPr>
        </p:nvPicPr>
        <p:blipFill>
          <a:blip r:embed="rId2"/>
          <a:stretch>
            <a:fillRect/>
          </a:stretch>
        </p:blipFill>
        <p:spPr>
          <a:xfrm>
            <a:off x="1677750" y="1584664"/>
            <a:ext cx="3203739" cy="4525963"/>
          </a:xfrm>
        </p:spPr>
      </p:pic>
    </p:spTree>
    <p:extLst>
      <p:ext uri="{BB962C8B-B14F-4D97-AF65-F5344CB8AC3E}">
        <p14:creationId xmlns:p14="http://schemas.microsoft.com/office/powerpoint/2010/main" val="2201070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AEF8D-40C8-7D3C-963A-7544F5A54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37A5A-429D-023D-6B32-E18AB212045D}"/>
              </a:ext>
            </a:extLst>
          </p:cNvPr>
          <p:cNvSpPr>
            <a:spLocks noGrp="1"/>
          </p:cNvSpPr>
          <p:nvPr>
            <p:ph type="title"/>
          </p:nvPr>
        </p:nvSpPr>
        <p:spPr/>
        <p:txBody>
          <a:bodyPr>
            <a:normAutofit/>
          </a:bodyPr>
          <a:lstStyle/>
          <a:p>
            <a:pPr>
              <a:defRPr sz="4320" b="1">
                <a:solidFill>
                  <a:srgbClr val="FF4500"/>
                </a:solidFill>
              </a:defRPr>
            </a:pPr>
            <a:r>
              <a:rPr lang="en-US" sz="4320">
                <a:latin typeface="Segoe UI" panose="020B0502040204020203" pitchFamily="34" charset="0"/>
                <a:cs typeface="Segoe UI" panose="020B0502040204020203" pitchFamily="34" charset="0"/>
              </a:rPr>
              <a:t>Các thiết bị sử dụng trong đề tài</a:t>
            </a:r>
            <a:endParaRPr sz="4320">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65724146-D408-37C3-BB66-E609FBAC92D1}"/>
              </a:ext>
            </a:extLst>
          </p:cNvPr>
          <p:cNvSpPr txBox="1"/>
          <p:nvPr/>
        </p:nvSpPr>
        <p:spPr>
          <a:xfrm>
            <a:off x="4881489" y="1584664"/>
            <a:ext cx="6700911" cy="504754"/>
          </a:xfrm>
          <a:prstGeom prst="rect">
            <a:avLst/>
          </a:prstGeom>
          <a:noFill/>
        </p:spPr>
        <p:txBody>
          <a:bodyPr wrap="square" rtlCol="0">
            <a:spAutoFit/>
          </a:bodyPr>
          <a:lstStyle/>
          <a:p>
            <a:pPr algn="just"/>
            <a:r>
              <a:rPr lang="en-US" sz="2680">
                <a:latin typeface="Segoe UI" panose="020B0502040204020203" pitchFamily="34" charset="0"/>
                <a:cs typeface="Segoe UI" panose="020B0502040204020203" pitchFamily="34" charset="0"/>
              </a:rPr>
              <a:t>Cảm biến hiện diện LD2410B</a:t>
            </a:r>
          </a:p>
        </p:txBody>
      </p:sp>
      <p:pic>
        <p:nvPicPr>
          <p:cNvPr id="5" name="Content Placeholder 4">
            <a:extLst>
              <a:ext uri="{FF2B5EF4-FFF2-40B4-BE49-F238E27FC236}">
                <a16:creationId xmlns:a16="http://schemas.microsoft.com/office/drawing/2014/main" id="{498E76B5-214D-84E8-2719-D0F8D0A5EA5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50659" y="1584664"/>
            <a:ext cx="2830484" cy="2830484"/>
          </a:xfrm>
          <a:prstGeom prst="rect">
            <a:avLst/>
          </a:prstGeom>
        </p:spPr>
      </p:pic>
      <p:pic>
        <p:nvPicPr>
          <p:cNvPr id="7" name="Picture 6">
            <a:extLst>
              <a:ext uri="{FF2B5EF4-FFF2-40B4-BE49-F238E27FC236}">
                <a16:creationId xmlns:a16="http://schemas.microsoft.com/office/drawing/2014/main" id="{5F3E9803-CBF0-71B9-2A97-21DBCC7A8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0313" y="4130451"/>
            <a:ext cx="2830830" cy="2727549"/>
          </a:xfrm>
          <a:prstGeom prst="rect">
            <a:avLst/>
          </a:prstGeom>
        </p:spPr>
      </p:pic>
    </p:spTree>
    <p:extLst>
      <p:ext uri="{BB962C8B-B14F-4D97-AF65-F5344CB8AC3E}">
        <p14:creationId xmlns:p14="http://schemas.microsoft.com/office/powerpoint/2010/main" val="1494718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4320" b="1">
                <a:solidFill>
                  <a:srgbClr val="FF4500"/>
                </a:solidFill>
              </a:defRPr>
            </a:pPr>
            <a:r>
              <a:rPr lang="en-US" sz="4320">
                <a:latin typeface="Segoe UI" panose="020B0502040204020203" pitchFamily="34" charset="0"/>
                <a:cs typeface="Segoe UI" panose="020B0502040204020203" pitchFamily="34" charset="0"/>
              </a:rPr>
              <a:t>Mô hình hệ thống</a:t>
            </a:r>
            <a:endParaRPr sz="4320">
              <a:latin typeface="Segoe UI" panose="020B0502040204020203" pitchFamily="34" charset="0"/>
              <a:cs typeface="Segoe UI" panose="020B0502040204020203" pitchFamily="34" charset="0"/>
            </a:endParaRPr>
          </a:p>
        </p:txBody>
      </p:sp>
      <p:pic>
        <p:nvPicPr>
          <p:cNvPr id="9" name="Content Placeholder 8">
            <a:extLst>
              <a:ext uri="{FF2B5EF4-FFF2-40B4-BE49-F238E27FC236}">
                <a16:creationId xmlns:a16="http://schemas.microsoft.com/office/drawing/2014/main" id="{9D6C65F0-4BC9-B45E-85F5-B6115675F71F}"/>
              </a:ext>
            </a:extLst>
          </p:cNvPr>
          <p:cNvPicPr>
            <a:picLocks noGrp="1" noChangeAspect="1"/>
          </p:cNvPicPr>
          <p:nvPr>
            <p:ph idx="1"/>
          </p:nvPr>
        </p:nvPicPr>
        <p:blipFill>
          <a:blip r:embed="rId2"/>
          <a:stretch>
            <a:fillRect/>
          </a:stretch>
        </p:blipFill>
        <p:spPr>
          <a:xfrm>
            <a:off x="2081470" y="1445137"/>
            <a:ext cx="8029059" cy="5138225"/>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3A98-BCA5-1D5C-F9C6-BB644F543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D8B1A-6FA2-9AB4-D471-C02C8E4410F4}"/>
              </a:ext>
            </a:extLst>
          </p:cNvPr>
          <p:cNvSpPr>
            <a:spLocks noGrp="1"/>
          </p:cNvSpPr>
          <p:nvPr>
            <p:ph type="title"/>
          </p:nvPr>
        </p:nvSpPr>
        <p:spPr/>
        <p:txBody>
          <a:bodyPr>
            <a:normAutofit/>
          </a:bodyPr>
          <a:lstStyle/>
          <a:p>
            <a:pPr>
              <a:defRPr sz="4320" b="1">
                <a:solidFill>
                  <a:srgbClr val="FF4500"/>
                </a:solidFill>
              </a:defRPr>
            </a:pPr>
            <a:r>
              <a:rPr lang="en-US" sz="4320">
                <a:latin typeface="Segoe UI" panose="020B0502040204020203" pitchFamily="34" charset="0"/>
                <a:cs typeface="Segoe UI" panose="020B0502040204020203" pitchFamily="34" charset="0"/>
              </a:rPr>
              <a:t>Chức năng chính</a:t>
            </a:r>
            <a:endParaRPr sz="4320">
              <a:latin typeface="Segoe UI" panose="020B0502040204020203" pitchFamily="34" charset="0"/>
              <a:cs typeface="Segoe UI" panose="020B0502040204020203" pitchFamily="34" charset="0"/>
            </a:endParaRPr>
          </a:p>
        </p:txBody>
      </p:sp>
      <p:sp>
        <p:nvSpPr>
          <p:cNvPr id="4" name="Content Placeholder 3">
            <a:extLst>
              <a:ext uri="{FF2B5EF4-FFF2-40B4-BE49-F238E27FC236}">
                <a16:creationId xmlns:a16="http://schemas.microsoft.com/office/drawing/2014/main" id="{1C02E5E2-B932-E10C-BE51-97B37B955394}"/>
              </a:ext>
            </a:extLst>
          </p:cNvPr>
          <p:cNvSpPr>
            <a:spLocks noGrp="1"/>
          </p:cNvSpPr>
          <p:nvPr>
            <p:ph idx="1"/>
          </p:nvPr>
        </p:nvSpPr>
        <p:spPr/>
        <p:txBody>
          <a:bodyPr>
            <a:normAutofit/>
          </a:bodyPr>
          <a:lstStyle/>
          <a:p>
            <a:pPr marL="274320" indent="-274320" algn="just"/>
            <a:r>
              <a:rPr lang="vi-VN" sz="2680">
                <a:latin typeface="Segoe UI" panose="020B0502040204020203" pitchFamily="34" charset="0"/>
                <a:cs typeface="Segoe UI" panose="020B0502040204020203" pitchFamily="34" charset="0"/>
              </a:rPr>
              <a:t>Phát hiện sự hiện diện của con người trong không gian.</a:t>
            </a:r>
            <a:endParaRPr lang="en-US" sz="2680">
              <a:latin typeface="Segoe UI" panose="020B0502040204020203" pitchFamily="34" charset="0"/>
              <a:cs typeface="Segoe UI" panose="020B0502040204020203" pitchFamily="34" charset="0"/>
            </a:endParaRPr>
          </a:p>
          <a:p>
            <a:pPr marL="274320" indent="-274320" algn="just"/>
            <a:r>
              <a:rPr lang="en-US" sz="2680">
                <a:latin typeface="Segoe UI" panose="020B0502040204020203" pitchFamily="34" charset="0"/>
                <a:cs typeface="Segoe UI" panose="020B0502040204020203" pitchFamily="34" charset="0"/>
              </a:rPr>
              <a:t>Tự động bật/tắt đèn theo trạng thái hiện diện.</a:t>
            </a:r>
          </a:p>
          <a:p>
            <a:pPr marL="274320" indent="-274320" algn="just"/>
            <a:r>
              <a:rPr lang="en-US" sz="2680">
                <a:latin typeface="Segoe UI" panose="020B0502040204020203" pitchFamily="34" charset="0"/>
                <a:cs typeface="Segoe UI" panose="020B0502040204020203" pitchFamily="34" charset="0"/>
              </a:rPr>
              <a:t>Cấu hình thông số cảm biến qua giao diện STM32.</a:t>
            </a:r>
          </a:p>
        </p:txBody>
      </p:sp>
    </p:spTree>
    <p:extLst>
      <p:ext uri="{BB962C8B-B14F-4D97-AF65-F5344CB8AC3E}">
        <p14:creationId xmlns:p14="http://schemas.microsoft.com/office/powerpoint/2010/main" val="56878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013F3-1DDC-CD2A-C63E-5D8E1271E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E4FCC-70EF-F1B8-B94D-3099223A4325}"/>
              </a:ext>
            </a:extLst>
          </p:cNvPr>
          <p:cNvSpPr>
            <a:spLocks noGrp="1"/>
          </p:cNvSpPr>
          <p:nvPr>
            <p:ph type="title"/>
          </p:nvPr>
        </p:nvSpPr>
        <p:spPr/>
        <p:txBody>
          <a:bodyPr>
            <a:normAutofit/>
          </a:bodyPr>
          <a:lstStyle/>
          <a:p>
            <a:pPr>
              <a:defRPr sz="4320" b="1">
                <a:solidFill>
                  <a:srgbClr val="FF4500"/>
                </a:solidFill>
              </a:defRPr>
            </a:pPr>
            <a:r>
              <a:rPr lang="en-US" sz="4320">
                <a:latin typeface="Segoe UI" panose="020B0502040204020203" pitchFamily="34" charset="0"/>
                <a:cs typeface="Segoe UI" panose="020B0502040204020203" pitchFamily="34" charset="0"/>
              </a:rPr>
              <a:t>Nguyên lý hoạt động</a:t>
            </a:r>
            <a:endParaRPr sz="4320">
              <a:latin typeface="Segoe UI" panose="020B0502040204020203" pitchFamily="34" charset="0"/>
              <a:cs typeface="Segoe UI" panose="020B0502040204020203" pitchFamily="34" charset="0"/>
            </a:endParaRPr>
          </a:p>
        </p:txBody>
      </p:sp>
      <p:sp>
        <p:nvSpPr>
          <p:cNvPr id="4" name="Content Placeholder 3">
            <a:extLst>
              <a:ext uri="{FF2B5EF4-FFF2-40B4-BE49-F238E27FC236}">
                <a16:creationId xmlns:a16="http://schemas.microsoft.com/office/drawing/2014/main" id="{21E42225-C406-1DAD-BD6B-DD5AB8DA1A6B}"/>
              </a:ext>
            </a:extLst>
          </p:cNvPr>
          <p:cNvSpPr>
            <a:spLocks noGrp="1"/>
          </p:cNvSpPr>
          <p:nvPr>
            <p:ph idx="1"/>
          </p:nvPr>
        </p:nvSpPr>
        <p:spPr/>
        <p:txBody>
          <a:bodyPr>
            <a:normAutofit/>
          </a:bodyPr>
          <a:lstStyle/>
          <a:p>
            <a:pPr marL="274320" indent="-274320" algn="just"/>
            <a:r>
              <a:rPr lang="vi-VN" sz="2680">
                <a:latin typeface="Segoe UI" panose="020B0502040204020203" pitchFamily="34" charset="0"/>
                <a:cs typeface="Segoe UI" panose="020B0502040204020203" pitchFamily="34" charset="0"/>
              </a:rPr>
              <a:t>Hệ thống cảm biến thu thập các thông số môi trường (nhiệt độ, độ ẩm, cường độ ánh sáng) và phát hiện sự hiện diện của con người, sau đó truyền dữ liệu đến Coordinator và điều khiển thiết bị LED (ở chế độ Binding) qua Zigbee.</a:t>
            </a:r>
            <a:endParaRPr lang="en-US" sz="2680">
              <a:latin typeface="Segoe UI" panose="020B0502040204020203" pitchFamily="34" charset="0"/>
              <a:cs typeface="Segoe UI" panose="020B0502040204020203" pitchFamily="34" charset="0"/>
            </a:endParaRPr>
          </a:p>
          <a:p>
            <a:pPr marL="274320" indent="-274320" algn="just"/>
            <a:r>
              <a:rPr lang="en-US" sz="2680">
                <a:latin typeface="Segoe UI" panose="020B0502040204020203" pitchFamily="34" charset="0"/>
                <a:cs typeface="Segoe UI" panose="020B0502040204020203" pitchFamily="34" charset="0"/>
              </a:rPr>
              <a:t>Coordinator tiếp nhận dữ liệu cảm biến, quản lý trạng thái mạng, trạng thái kết nối và hoạt động của các thiết bị, rồi gửi thông tin này đến STM32 để hiển thị trên LCD.</a:t>
            </a:r>
          </a:p>
          <a:p>
            <a:pPr marL="274320" indent="-274320" algn="just"/>
            <a:r>
              <a:rPr lang="en-US" sz="2680">
                <a:latin typeface="Segoe UI" panose="020B0502040204020203" pitchFamily="34" charset="0"/>
                <a:cs typeface="Segoe UI" panose="020B0502040204020203" pitchFamily="34" charset="0"/>
              </a:rPr>
              <a:t>STM32 hiển thị dữ liệu, gửi lệnh điều khiển và thiết lập thông số cảm biến đến Coordinator qua UART. Coordinator tiếp tục chuyển tiếp các lệnh này đến các thiết bị đầu cuối thông qua Zigbee.</a:t>
            </a:r>
          </a:p>
        </p:txBody>
      </p:sp>
    </p:spTree>
    <p:extLst>
      <p:ext uri="{BB962C8B-B14F-4D97-AF65-F5344CB8AC3E}">
        <p14:creationId xmlns:p14="http://schemas.microsoft.com/office/powerpoint/2010/main" val="957369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4320" b="1">
                <a:solidFill>
                  <a:srgbClr val="FF4500"/>
                </a:solidFill>
              </a:defRPr>
            </a:pPr>
            <a:r>
              <a:rPr sz="4320" err="1">
                <a:latin typeface="Segoe UI" panose="020B0502040204020203" pitchFamily="34" charset="0"/>
                <a:cs typeface="Segoe UI" panose="020B0502040204020203" pitchFamily="34" charset="0"/>
              </a:rPr>
              <a:t>Kết</a:t>
            </a:r>
            <a:r>
              <a:rPr sz="4320">
                <a:latin typeface="Segoe UI" panose="020B0502040204020203" pitchFamily="34" charset="0"/>
                <a:cs typeface="Segoe UI" panose="020B0502040204020203" pitchFamily="34" charset="0"/>
              </a:rPr>
              <a:t> quả </a:t>
            </a:r>
            <a:r>
              <a:rPr sz="4320" err="1">
                <a:latin typeface="Segoe UI" panose="020B0502040204020203" pitchFamily="34" charset="0"/>
                <a:cs typeface="Segoe UI" panose="020B0502040204020203" pitchFamily="34" charset="0"/>
              </a:rPr>
              <a:t>đạt</a:t>
            </a:r>
            <a:r>
              <a:rPr sz="4320">
                <a:latin typeface="Segoe UI" panose="020B0502040204020203" pitchFamily="34" charset="0"/>
                <a:cs typeface="Segoe UI" panose="020B0502040204020203" pitchFamily="34" charset="0"/>
              </a:rPr>
              <a:t> </a:t>
            </a:r>
            <a:r>
              <a:rPr sz="4320" err="1">
                <a:latin typeface="Segoe UI" panose="020B0502040204020203" pitchFamily="34" charset="0"/>
                <a:cs typeface="Segoe UI" panose="020B0502040204020203" pitchFamily="34" charset="0"/>
              </a:rPr>
              <a:t>được</a:t>
            </a:r>
            <a:endParaRPr sz="4320">
              <a:latin typeface="Segoe UI" panose="020B0502040204020203" pitchFamily="34" charset="0"/>
              <a:cs typeface="Segoe UI" panose="020B0502040204020203" pitchFamily="34" charset="0"/>
            </a:endParaRPr>
          </a:p>
        </p:txBody>
      </p:sp>
      <p:sp>
        <p:nvSpPr>
          <p:cNvPr id="3" name="Content Placeholder 2"/>
          <p:cNvSpPr>
            <a:spLocks noGrp="1"/>
          </p:cNvSpPr>
          <p:nvPr>
            <p:ph idx="1"/>
          </p:nvPr>
        </p:nvSpPr>
        <p:spPr/>
        <p:txBody>
          <a:bodyPr>
            <a:normAutofit/>
          </a:bodyPr>
          <a:lstStyle/>
          <a:p>
            <a:pPr marL="274320" indent="-274320" algn="just">
              <a:defRPr sz="2880">
                <a:solidFill>
                  <a:srgbClr val="323232"/>
                </a:solidFill>
              </a:defRPr>
            </a:pPr>
            <a:r>
              <a:rPr lang="en-US" sz="2680">
                <a:latin typeface="Segoe UI" panose="020B0502040204020203" pitchFamily="34" charset="0"/>
                <a:cs typeface="Segoe UI" panose="020B0502040204020203" pitchFamily="34" charset="0"/>
              </a:rPr>
              <a:t>Hệ thống hoạt động ổn định theo mô hình đã đề ra.</a:t>
            </a:r>
          </a:p>
          <a:p>
            <a:pPr marL="274320" indent="-274320" algn="just">
              <a:defRPr sz="2880">
                <a:solidFill>
                  <a:srgbClr val="323232"/>
                </a:solidFill>
              </a:defRPr>
            </a:pPr>
            <a:r>
              <a:rPr lang="vi-VN" sz="2680">
                <a:latin typeface="Segoe UI" panose="020B0502040204020203" pitchFamily="34" charset="0"/>
                <a:cs typeface="Segoe UI" panose="020B0502040204020203" pitchFamily="34" charset="0"/>
              </a:rPr>
              <a:t>Cảm biến LD2410B phát hiện chính xác người trong phỏng</a:t>
            </a:r>
            <a:r>
              <a:rPr lang="en-US" sz="2680">
                <a:latin typeface="Segoe UI" panose="020B0502040204020203" pitchFamily="34" charset="0"/>
                <a:cs typeface="Segoe UI" panose="020B0502040204020203" pitchFamily="34" charset="0"/>
              </a:rPr>
              <a:t> và hoạt động chỉnh xác theo các thông số được cài đặt</a:t>
            </a:r>
            <a:r>
              <a:rPr lang="vi-VN" sz="2680">
                <a:latin typeface="Segoe UI" panose="020B0502040204020203" pitchFamily="34" charset="0"/>
                <a:cs typeface="Segoe UI" panose="020B0502040204020203" pitchFamily="34" charset="0"/>
              </a:rPr>
              <a:t>.</a:t>
            </a:r>
            <a:endParaRPr lang="en-US" sz="2680">
              <a:latin typeface="Segoe UI" panose="020B0502040204020203" pitchFamily="34" charset="0"/>
              <a:cs typeface="Segoe UI" panose="020B0502040204020203" pitchFamily="34" charset="0"/>
            </a:endParaRPr>
          </a:p>
          <a:p>
            <a:pPr marL="274320" indent="-274320" algn="just">
              <a:defRPr sz="2880">
                <a:solidFill>
                  <a:srgbClr val="323232"/>
                </a:solidFill>
              </a:defRPr>
            </a:pPr>
            <a:r>
              <a:rPr lang="en-US" sz="2680">
                <a:latin typeface="Segoe UI" panose="020B0502040204020203" pitchFamily="34" charset="0"/>
                <a:cs typeface="Segoe UI" panose="020B0502040204020203" pitchFamily="34" charset="0"/>
              </a:rPr>
              <a:t>Đèn bật/tắt tự động theo trạng thái hiện diện.</a:t>
            </a:r>
          </a:p>
          <a:p>
            <a:pPr marL="274320" indent="-274320" algn="just">
              <a:defRPr sz="2880">
                <a:solidFill>
                  <a:srgbClr val="323232"/>
                </a:solidFill>
              </a:defRPr>
            </a:pPr>
            <a:r>
              <a:rPr lang="en-US" sz="2680">
                <a:latin typeface="Segoe UI" panose="020B0502040204020203" pitchFamily="34" charset="0"/>
                <a:cs typeface="Segoe UI" panose="020B0502040204020203" pitchFamily="34" charset="0"/>
              </a:rPr>
              <a:t>STM32 hiển thị chính xác các thông số theo thiết kế.</a:t>
            </a:r>
            <a:endParaRPr sz="2680">
              <a:latin typeface="Segoe UI" panose="020B0502040204020203" pitchFamily="34" charset="0"/>
              <a:cs typeface="Segoe UI" panose="020B0502040204020203"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320" b="1">
                <a:solidFill>
                  <a:srgbClr val="FF4500"/>
                </a:solidFill>
              </a:defRPr>
            </a:pPr>
            <a:r>
              <a:rPr>
                <a:latin typeface="Segoe UI" panose="020B0502040204020203" pitchFamily="34" charset="0"/>
                <a:cs typeface="Segoe UI" panose="020B0502040204020203" pitchFamily="34" charset="0"/>
              </a:rPr>
              <a:t>Hướng phát triển</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defRPr sz="2880">
                <a:solidFill>
                  <a:srgbClr val="323232"/>
                </a:solidFill>
              </a:defRPr>
            </a:pPr>
            <a:r>
              <a:rPr lang="en-US" sz="2680">
                <a:latin typeface="Segoe UI" panose="020B0502040204020203" pitchFamily="34" charset="0"/>
                <a:cs typeface="Segoe UI" panose="020B0502040204020203" pitchFamily="34" charset="0"/>
              </a:rPr>
              <a:t>Kết hợp với vi điều khiển ESP32 nhằm bổ sung khả năng hiển thị thông tin, trạng thái và điều khiển thiết bị thông qua Web Server.</a:t>
            </a:r>
          </a:p>
          <a:p>
            <a:pPr algn="just">
              <a:buFont typeface="Wingdings" panose="05000000000000000000" pitchFamily="2" charset="2"/>
              <a:buChar char="Ø"/>
              <a:defRPr sz="2880">
                <a:solidFill>
                  <a:srgbClr val="323232"/>
                </a:solidFill>
              </a:defRPr>
            </a:pPr>
            <a:r>
              <a:rPr lang="en-US" sz="2680">
                <a:latin typeface="Segoe UI" panose="020B0502040204020203" pitchFamily="34" charset="0"/>
                <a:cs typeface="Segoe UI" panose="020B0502040204020203" pitchFamily="34" charset="0"/>
              </a:rPr>
              <a:t>Điều khiển và giám sát hệ thống thông qua ứng dụng di động.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320" b="1">
                <a:solidFill>
                  <a:srgbClr val="FF4500"/>
                </a:solidFill>
              </a:defRPr>
            </a:pPr>
            <a:r>
              <a:rPr>
                <a:latin typeface="Segoe UI" panose="020B0502040204020203" pitchFamily="34" charset="0"/>
                <a:cs typeface="Segoe UI" panose="020B0502040204020203" pitchFamily="34" charset="0"/>
              </a:rPr>
              <a:t>Demo</a:t>
            </a:r>
          </a:p>
        </p:txBody>
      </p:sp>
      <p:sp>
        <p:nvSpPr>
          <p:cNvPr id="3" name="Content Placeholder 2"/>
          <p:cNvSpPr>
            <a:spLocks noGrp="1"/>
          </p:cNvSpPr>
          <p:nvPr>
            <p:ph idx="1"/>
          </p:nvPr>
        </p:nvSpPr>
        <p:spPr/>
        <p:txBody>
          <a:bodyPr/>
          <a:lstStyle/>
          <a:p>
            <a:pPr marL="0" indent="0">
              <a:buNone/>
              <a:defRPr sz="2880">
                <a:solidFill>
                  <a:srgbClr val="323232"/>
                </a:solidFill>
              </a:defRPr>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6337177"/>
          </a:xfrm>
        </p:spPr>
        <p:txBody>
          <a:bodyPr>
            <a:normAutofit/>
          </a:bodyPr>
          <a:lstStyle/>
          <a:p>
            <a:pPr>
              <a:defRPr sz="4320" b="1">
                <a:solidFill>
                  <a:srgbClr val="FF4500"/>
                </a:solidFill>
              </a:defRPr>
            </a:pPr>
            <a:r>
              <a:rPr lang="en-US" sz="6800">
                <a:latin typeface="Segoe UI" panose="020B0502040204020203" pitchFamily="34" charset="0"/>
                <a:cs typeface="Segoe UI" panose="020B0502040204020203" pitchFamily="34" charset="0"/>
              </a:rPr>
              <a:t>Thank you!</a:t>
            </a:r>
            <a:endParaRPr sz="6800">
              <a:latin typeface="Segoe UI" panose="020B0502040204020203" pitchFamily="34" charset="0"/>
              <a:cs typeface="Segoe UI" panose="020B0502040204020203"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602</TotalTime>
  <Words>623</Words>
  <Application>Microsoft Office PowerPoint</Application>
  <PresentationFormat>Widescreen</PresentationFormat>
  <Paragraphs>43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Segoe UI</vt:lpstr>
      <vt:lpstr>Wingdings</vt:lpstr>
      <vt:lpstr>Office Theme</vt:lpstr>
      <vt:lpstr>BÁO CÁO CUỐI KHÓA</vt:lpstr>
      <vt:lpstr>Giới thiệu đề tài</vt:lpstr>
      <vt:lpstr>Mục tiêu đề tài</vt:lpstr>
      <vt:lpstr>Các thiết bị sử dụng trong đề tài</vt:lpstr>
      <vt:lpstr>Các thiết bị sử dụng trong đề tài</vt:lpstr>
      <vt:lpstr>Các thiết bị sử dụng trong đề tài</vt:lpstr>
      <vt:lpstr>Mô hình hệ thống</vt:lpstr>
      <vt:lpstr>Chức năng chính</vt:lpstr>
      <vt:lpstr>Nguyên lý hoạt động</vt:lpstr>
      <vt:lpstr>Kết quả đạt được</vt:lpstr>
      <vt:lpstr>Hướng phát triển</vt:lpstr>
      <vt:lpstr>Demo</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Hoàng Dũng</dc:creator>
  <cp:keywords/>
  <dc:description>generated using python-pptx</dc:description>
  <cp:lastModifiedBy>Nguyễn Hoàng Dũng</cp:lastModifiedBy>
  <cp:revision>25</cp:revision>
  <dcterms:created xsi:type="dcterms:W3CDTF">2013-01-27T09:14:16Z</dcterms:created>
  <dcterms:modified xsi:type="dcterms:W3CDTF">2025-03-28T20:42:25Z</dcterms:modified>
  <cp:category/>
</cp:coreProperties>
</file>